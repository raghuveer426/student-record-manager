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71" r:id="rId21"/>
  </p:sldIdLst>
  <p:sldSz cx="12192000" cy="6858000"/>
  <p:notesSz cx="6858000" cy="12192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Red Hat Text" panose="020B0604020202020204" charset="0"/>
      <p:regular r:id="rId27"/>
    </p:embeddedFont>
    <p:embeddedFont>
      <p:font typeface="Red Hat Text Light" panose="020B0604020202020204" charset="0"/>
      <p:regular r:id="rId28"/>
    </p:embeddedFont>
    <p:embeddedFont>
      <p:font typeface="Roboto Bold" panose="020B0604020202020204" charset="0"/>
      <p:regular r:id="rId29"/>
    </p:embeddedFont>
    <p:embeddedFont>
      <p:font typeface="Roboto Light" panose="02000000000000000000" pitchFamily="2" charset="0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ana Raghuveer" userId="5ad3cc90c926e015" providerId="LiveId" clId="{1F026155-FDA7-4DCB-B387-D59248B567BD}"/>
    <pc:docChg chg="undo custSel modSld">
      <pc:chgData name="Kesana Raghuveer" userId="5ad3cc90c926e015" providerId="LiveId" clId="{1F026155-FDA7-4DCB-B387-D59248B567BD}" dt="2026-08-27T04:00:45.006" v="2" actId="478"/>
      <pc:docMkLst>
        <pc:docMk/>
      </pc:docMkLst>
      <pc:sldChg chg="delSp modSp mod">
        <pc:chgData name="Kesana Raghuveer" userId="5ad3cc90c926e015" providerId="LiveId" clId="{1F026155-FDA7-4DCB-B387-D59248B567BD}" dt="2026-08-27T04:00:45.006" v="2" actId="478"/>
        <pc:sldMkLst>
          <pc:docMk/>
          <pc:sldMk cId="0" sldId="269"/>
        </pc:sldMkLst>
        <pc:picChg chg="mod">
          <ac:chgData name="Kesana Raghuveer" userId="5ad3cc90c926e015" providerId="LiveId" clId="{1F026155-FDA7-4DCB-B387-D59248B567BD}" dt="2026-08-27T04:00:19.243" v="1" actId="1076"/>
          <ac:picMkLst>
            <pc:docMk/>
            <pc:sldMk cId="0" sldId="269"/>
            <ac:picMk id="30" creationId="{8D38C92B-2BED-0B58-BA21-26DC540C3461}"/>
          </ac:picMkLst>
        </pc:picChg>
        <pc:inkChg chg="del">
          <ac:chgData name="Kesana Raghuveer" userId="5ad3cc90c926e015" providerId="LiveId" clId="{1F026155-FDA7-4DCB-B387-D59248B567BD}" dt="2026-08-27T04:00:45.006" v="2" actId="478"/>
          <ac:inkMkLst>
            <pc:docMk/>
            <pc:sldMk cId="0" sldId="269"/>
            <ac:inkMk id="16" creationId="{774FDBED-1CC1-9BEC-E9C9-88837DFDD0FD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6T07:00:13.939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523 158,'10'-5,"0"0,0 1,0 0,1 0,0 1,-1 1,22-3,-7 1,100-19,558-75,-369 97,-144 4,-112-4,-15-1,49 6,-91-4,0 0,1 0,-1 0,0 0,1 0,-1 0,0 0,0 1,1-1,-1 1,0-1,0 1,1-1,-1 1,0-1,0 1,0 0,0 0,0 0,0-1,0 1,0 0,0 0,0 0,1 3,-3-3,1 1,-1-1,0 1,0-1,1 0,-1 1,0-1,0 0,0 0,0 1,-1-1,1 0,0 0,0 0,-1 0,1 0,0-1,-1 1,1 0,-1-1,1 1,-4 0,-27 11,0 0,-1-3,-1 0,0-3,-52 5,-183-5,227-6,-622-43,335 15,165 15,-256-12,1321 27,-535-2,-328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6T07:00:15.32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0 184,'42'-1,"43"-8,-23 2,673-67,-299 25,-100 10,-241 35,-65 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6T07:00:20.819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0 846,'36'-14,"72"-21,85-27,80-21,68-22,47-3,32 0,16 9,-19 22,-31 15,-55 18,-48 16,-60 13,-62 10,-55 5,-41 2,-32 6,-20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2445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10" Type="http://schemas.openxmlformats.org/officeDocument/2006/relationships/image" Target="../media/image4.png"/><Relationship Id="rId4" Type="http://schemas.openxmlformats.org/officeDocument/2006/relationships/image" Target="../media/image15.svg"/><Relationship Id="rId9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5.jpeg"/><Relationship Id="rId7" Type="http://schemas.openxmlformats.org/officeDocument/2006/relationships/image" Target="../media/image3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4" Type="http://schemas.openxmlformats.org/officeDocument/2006/relationships/customXml" Target="../ink/ink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3E8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73" y="700566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13989" y="2275938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Student Record Manager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4974450" y="2862618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Cornerstone C++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Project</a:t>
            </a: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9CEB30-7A03-AAAA-BD55-3F47A00FCAB6}"/>
              </a:ext>
            </a:extLst>
          </p:cNvPr>
          <p:cNvSpPr txBox="1"/>
          <p:nvPr/>
        </p:nvSpPr>
        <p:spPr>
          <a:xfrm>
            <a:off x="7302099" y="3984838"/>
            <a:ext cx="24121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Karishma   25B11CS360</a:t>
            </a:r>
            <a:br>
              <a:rPr lang="en-US"/>
            </a:br>
            <a:r>
              <a:rPr lang="en-US"/>
              <a:t>Mounika    25B11CS418</a:t>
            </a:r>
          </a:p>
          <a:p>
            <a:r>
              <a:rPr lang="en-US"/>
              <a:t>Raghuveer 25B11CS426</a:t>
            </a:r>
          </a:p>
          <a:p>
            <a:r>
              <a:rPr lang="en-US"/>
              <a:t>Lokesh        25B11CS434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028D9C-7457-44A2-6F75-588EDC00A594}"/>
              </a:ext>
            </a:extLst>
          </p:cNvPr>
          <p:cNvSpPr txBox="1"/>
          <p:nvPr/>
        </p:nvSpPr>
        <p:spPr>
          <a:xfrm>
            <a:off x="7050173" y="3692282"/>
            <a:ext cx="2412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  TEAM 8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F392EF-FDA7-F123-2B41-F72B51B3B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6079" y="6560397"/>
            <a:ext cx="1181265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1975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Project Abstract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361976"/>
            <a:ext cx="3526345" cy="35264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69902" y="1207492"/>
            <a:ext cx="6881343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C++ console application designed to store and manage student information efficiently, replacing manual record-keeping with a centralized digital system.</a:t>
            </a:r>
            <a:endParaRPr lang="en-US" sz="2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9902" y="2857549"/>
            <a:ext cx="5964058" cy="112256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15591" y="3008312"/>
            <a:ext cx="490227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Centralized Storage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5215591" y="3333053"/>
            <a:ext cx="4902276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Replaces scattered paper files and spreadsheets with a single organized system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9902" y="4448106"/>
            <a:ext cx="5964058" cy="11225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53691" y="4626104"/>
            <a:ext cx="490227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Comprehensive Data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5253691" y="4935865"/>
            <a:ext cx="4902276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Stores Student ID, name, age, gender, course, department, contact info, and marks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A59BC9-6FEA-7451-CA8C-8AE6F693AD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6079" y="6560397"/>
            <a:ext cx="1181265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3E8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1270198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Problem Statement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5269971" y="2156023"/>
            <a:ext cx="3012107" cy="1775718"/>
          </a:xfrm>
          <a:prstGeom prst="roundRect">
            <a:avLst>
              <a:gd name="adj" fmla="val 1685"/>
            </a:avLst>
          </a:prstGeom>
          <a:solidFill>
            <a:srgbClr val="F3E8E8"/>
          </a:solidFill>
          <a:ln/>
        </p:spPr>
      </p:sp>
      <p:sp>
        <p:nvSpPr>
          <p:cNvPr id="6" name="Text 3"/>
          <p:cNvSpPr/>
          <p:nvPr/>
        </p:nvSpPr>
        <p:spPr>
          <a:xfrm>
            <a:off x="5469396" y="2355453"/>
            <a:ext cx="2613257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⏱</a:t>
            </a: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Time-Consuming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69396" y="2774752"/>
            <a:ext cx="261325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Manual record maintenance drains administrative time and resources daily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481503" y="2156023"/>
            <a:ext cx="3012107" cy="1775718"/>
          </a:xfrm>
          <a:prstGeom prst="roundRect">
            <a:avLst>
              <a:gd name="adj" fmla="val 1685"/>
            </a:avLst>
          </a:prstGeom>
          <a:solidFill>
            <a:srgbClr val="F3E8E8"/>
          </a:solidFill>
          <a:ln/>
        </p:spPr>
      </p:sp>
      <p:sp>
        <p:nvSpPr>
          <p:cNvPr id="9" name="Text 6"/>
          <p:cNvSpPr/>
          <p:nvPr/>
        </p:nvSpPr>
        <p:spPr>
          <a:xfrm>
            <a:off x="8680927" y="2355453"/>
            <a:ext cx="2613257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❌</a:t>
            </a: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Error-Prone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0927" y="2774752"/>
            <a:ext cx="261325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Human errors in data entry lead to inaccurate and inconsistent student records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269971" y="4131171"/>
            <a:ext cx="6223638" cy="1456531"/>
          </a:xfrm>
          <a:prstGeom prst="roundRect">
            <a:avLst>
              <a:gd name="adj" fmla="val 2054"/>
            </a:avLst>
          </a:prstGeom>
          <a:solidFill>
            <a:srgbClr val="F3E8E8"/>
          </a:solidFill>
          <a:ln/>
        </p:spPr>
      </p:sp>
      <p:sp>
        <p:nvSpPr>
          <p:cNvPr id="12" name="Text 9"/>
          <p:cNvSpPr/>
          <p:nvPr/>
        </p:nvSpPr>
        <p:spPr>
          <a:xfrm>
            <a:off x="5469396" y="4330601"/>
            <a:ext cx="5824789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🔍</a:t>
            </a: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Hard to Scale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69396" y="4749899"/>
            <a:ext cx="582478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Searching, updating, and deleting records becomes impractical as data grows</a:t>
            </a:r>
            <a:endParaRPr lang="en-US" sz="15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72EEA0B-25F0-6B59-B745-189A3C3FF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6079" y="6560397"/>
            <a:ext cx="1181265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1861"/>
            <a:ext cx="10795524" cy="495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Project Objectives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69" y="2040533"/>
            <a:ext cx="6793040" cy="31090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39625" y="4418492"/>
            <a:ext cx="1275338" cy="231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Menu Interface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332349" y="4303021"/>
            <a:ext cx="1275339" cy="462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CRUD Operations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2733808" y="4303021"/>
            <a:ext cx="1275339" cy="462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Organize Records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00326" y="4303021"/>
            <a:ext cx="1275339" cy="462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Develop Manager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98086" y="5309295"/>
            <a:ext cx="7482891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objective builds toward a complete, user-friendly record management solution.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88299" y="1469727"/>
            <a:ext cx="378609" cy="378619"/>
          </a:xfrm>
          <a:prstGeom prst="roundRect">
            <a:avLst>
              <a:gd name="adj" fmla="val 6668"/>
            </a:avLst>
          </a:prstGeom>
          <a:solidFill>
            <a:srgbClr val="F3E8E8"/>
          </a:solidFill>
          <a:ln/>
        </p:spPr>
      </p:sp>
      <p:sp>
        <p:nvSpPr>
          <p:cNvPr id="10" name="Text 7"/>
          <p:cNvSpPr/>
          <p:nvPr/>
        </p:nvSpPr>
        <p:spPr>
          <a:xfrm>
            <a:off x="8058841" y="1510556"/>
            <a:ext cx="237524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508886" y="1527572"/>
            <a:ext cx="2990974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Develop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508886" y="1917105"/>
            <a:ext cx="2990974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Build a functional Student Record Manager using core C++ features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988299" y="2697361"/>
            <a:ext cx="378609" cy="378619"/>
          </a:xfrm>
          <a:prstGeom prst="roundRect">
            <a:avLst>
              <a:gd name="adj" fmla="val 6668"/>
            </a:avLst>
          </a:prstGeom>
          <a:solidFill>
            <a:srgbClr val="F3E8E8"/>
          </a:solidFill>
          <a:ln/>
        </p:spPr>
      </p:sp>
      <p:sp>
        <p:nvSpPr>
          <p:cNvPr id="14" name="Text 11"/>
          <p:cNvSpPr/>
          <p:nvPr/>
        </p:nvSpPr>
        <p:spPr>
          <a:xfrm>
            <a:off x="8058841" y="2738189"/>
            <a:ext cx="237524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08886" y="2755205"/>
            <a:ext cx="2990974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Organize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508886" y="3144738"/>
            <a:ext cx="2990974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Store student information in a structured, accessible format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988299" y="3924995"/>
            <a:ext cx="378609" cy="378619"/>
          </a:xfrm>
          <a:prstGeom prst="roundRect">
            <a:avLst>
              <a:gd name="adj" fmla="val 6668"/>
            </a:avLst>
          </a:prstGeom>
          <a:solidFill>
            <a:srgbClr val="F3E8E8"/>
          </a:solidFill>
          <a:ln/>
        </p:spPr>
      </p:sp>
      <p:sp>
        <p:nvSpPr>
          <p:cNvPr id="18" name="Text 15"/>
          <p:cNvSpPr/>
          <p:nvPr/>
        </p:nvSpPr>
        <p:spPr>
          <a:xfrm>
            <a:off x="8058841" y="3965823"/>
            <a:ext cx="237524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8508886" y="3982839"/>
            <a:ext cx="2990974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Operate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508886" y="4372372"/>
            <a:ext cx="2990974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Implement add, display, search, update, and delete operations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988299" y="5152628"/>
            <a:ext cx="378609" cy="378619"/>
          </a:xfrm>
          <a:prstGeom prst="roundRect">
            <a:avLst>
              <a:gd name="adj" fmla="val 6668"/>
            </a:avLst>
          </a:prstGeom>
          <a:solidFill>
            <a:srgbClr val="F3E8E8"/>
          </a:solidFill>
          <a:ln/>
        </p:spPr>
      </p:sp>
      <p:sp>
        <p:nvSpPr>
          <p:cNvPr id="22" name="Text 19"/>
          <p:cNvSpPr/>
          <p:nvPr/>
        </p:nvSpPr>
        <p:spPr>
          <a:xfrm>
            <a:off x="8058841" y="5193457"/>
            <a:ext cx="237524" cy="296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4</a:t>
            </a:r>
            <a:endParaRPr lang="en-US" sz="1850" dirty="0"/>
          </a:p>
        </p:txBody>
      </p:sp>
      <p:sp>
        <p:nvSpPr>
          <p:cNvPr id="23" name="Text 20"/>
          <p:cNvSpPr/>
          <p:nvPr/>
        </p:nvSpPr>
        <p:spPr>
          <a:xfrm>
            <a:off x="8508886" y="5210473"/>
            <a:ext cx="2990974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Simplify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8508886" y="5600005"/>
            <a:ext cx="2990974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Reduce manual effort with a clean menu-driven interface</a:t>
            </a:r>
            <a:endParaRPr lang="en-US" sz="14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DCEA24D-4F86-792A-59B3-A8553E016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6079" y="6560397"/>
            <a:ext cx="1181265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9020"/>
            <a:ext cx="10795524" cy="504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Scope of the Project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92041" y="1459805"/>
            <a:ext cx="5188713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Target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00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Environments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040" y="2575396"/>
            <a:ext cx="428515" cy="4285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56426" y="2525208"/>
            <a:ext cx="4576053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Schools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56426" y="2924563"/>
            <a:ext cx="457605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Manage student rosters and basic academic records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3486870"/>
            <a:ext cx="428515" cy="4285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56426" y="3474136"/>
            <a:ext cx="4576053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Colleges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256426" y="3873492"/>
            <a:ext cx="457605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Handle large-scale student data across departments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4519018"/>
            <a:ext cx="428515" cy="4285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56426" y="4423064"/>
            <a:ext cx="4576053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Training Institutes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256426" y="4822420"/>
            <a:ext cx="457605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Track participants in courses and academic programs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304897" y="866378"/>
            <a:ext cx="5188713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Roadmap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304897" y="1284188"/>
            <a:ext cx="1729538" cy="472579"/>
          </a:xfrm>
          <a:prstGeom prst="roundRect">
            <a:avLst>
              <a:gd name="adj" fmla="val 5441"/>
            </a:avLst>
          </a:prstGeom>
          <a:solidFill>
            <a:srgbClr val="F3E8E8"/>
          </a:solidFill>
          <a:ln/>
        </p:spPr>
      </p:sp>
      <p:sp>
        <p:nvSpPr>
          <p:cNvPr id="15" name="Text 10"/>
          <p:cNvSpPr/>
          <p:nvPr/>
        </p:nvSpPr>
        <p:spPr>
          <a:xfrm>
            <a:off x="7049118" y="1369814"/>
            <a:ext cx="240996" cy="301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</a:t>
            </a:r>
            <a:endParaRPr lang="en-US" sz="1850" dirty="0"/>
          </a:p>
        </p:txBody>
      </p:sp>
      <p:sp>
        <p:nvSpPr>
          <p:cNvPr id="16" name="Shape 11"/>
          <p:cNvSpPr/>
          <p:nvPr/>
        </p:nvSpPr>
        <p:spPr>
          <a:xfrm>
            <a:off x="6304897" y="1799530"/>
            <a:ext cx="3459076" cy="472579"/>
          </a:xfrm>
          <a:prstGeom prst="roundRect">
            <a:avLst>
              <a:gd name="adj" fmla="val 5441"/>
            </a:avLst>
          </a:prstGeom>
          <a:solidFill>
            <a:srgbClr val="F3E8E8"/>
          </a:solidFill>
          <a:ln/>
        </p:spPr>
      </p:sp>
      <p:sp>
        <p:nvSpPr>
          <p:cNvPr id="17" name="Text 12"/>
          <p:cNvSpPr/>
          <p:nvPr/>
        </p:nvSpPr>
        <p:spPr>
          <a:xfrm>
            <a:off x="7913887" y="1885156"/>
            <a:ext cx="240996" cy="301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</a:t>
            </a:r>
            <a:endParaRPr lang="en-US" sz="1850" dirty="0"/>
          </a:p>
        </p:txBody>
      </p:sp>
      <p:sp>
        <p:nvSpPr>
          <p:cNvPr id="18" name="Shape 13"/>
          <p:cNvSpPr/>
          <p:nvPr/>
        </p:nvSpPr>
        <p:spPr>
          <a:xfrm>
            <a:off x="6304897" y="2314872"/>
            <a:ext cx="5188713" cy="472579"/>
          </a:xfrm>
          <a:prstGeom prst="roundRect">
            <a:avLst>
              <a:gd name="adj" fmla="val 5441"/>
            </a:avLst>
          </a:prstGeom>
          <a:solidFill>
            <a:srgbClr val="F3E8E8"/>
          </a:solidFill>
          <a:ln/>
        </p:spPr>
      </p:sp>
      <p:sp>
        <p:nvSpPr>
          <p:cNvPr id="19" name="Text 14"/>
          <p:cNvSpPr/>
          <p:nvPr/>
        </p:nvSpPr>
        <p:spPr>
          <a:xfrm>
            <a:off x="8778755" y="2400498"/>
            <a:ext cx="240996" cy="301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Shape 15"/>
          <p:cNvSpPr/>
          <p:nvPr/>
        </p:nvSpPr>
        <p:spPr>
          <a:xfrm>
            <a:off x="6286164" y="3016092"/>
            <a:ext cx="342792" cy="342801"/>
          </a:xfrm>
          <a:prstGeom prst="roundRect">
            <a:avLst>
              <a:gd name="adj" fmla="val 7501"/>
            </a:avLst>
          </a:prstGeom>
          <a:solidFill>
            <a:srgbClr val="F3E8E8"/>
          </a:solidFill>
          <a:ln/>
        </p:spPr>
      </p:sp>
      <p:sp>
        <p:nvSpPr>
          <p:cNvPr id="21" name="Text 16"/>
          <p:cNvSpPr/>
          <p:nvPr/>
        </p:nvSpPr>
        <p:spPr>
          <a:xfrm>
            <a:off x="6356707" y="3061435"/>
            <a:ext cx="201607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6776193" y="3053497"/>
            <a:ext cx="4698684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Current Version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776193" y="3452853"/>
            <a:ext cx="469868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Basic student details and core CRUD operations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286164" y="3964921"/>
            <a:ext cx="342792" cy="342801"/>
          </a:xfrm>
          <a:prstGeom prst="roundRect">
            <a:avLst>
              <a:gd name="adj" fmla="val 7501"/>
            </a:avLst>
          </a:prstGeom>
          <a:solidFill>
            <a:srgbClr val="F3E8E8"/>
          </a:solidFill>
          <a:ln/>
        </p:spPr>
      </p:sp>
      <p:sp>
        <p:nvSpPr>
          <p:cNvPr id="25" name="Text 20"/>
          <p:cNvSpPr/>
          <p:nvPr/>
        </p:nvSpPr>
        <p:spPr>
          <a:xfrm>
            <a:off x="6356707" y="4010264"/>
            <a:ext cx="201607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776193" y="4002326"/>
            <a:ext cx="4698684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Phase 2</a:t>
            </a:r>
            <a:endParaRPr lang="en-US" sz="1550" dirty="0"/>
          </a:p>
        </p:txBody>
      </p:sp>
      <p:sp>
        <p:nvSpPr>
          <p:cNvPr id="27" name="Text 22"/>
          <p:cNvSpPr/>
          <p:nvPr/>
        </p:nvSpPr>
        <p:spPr>
          <a:xfrm>
            <a:off x="6776193" y="4401682"/>
            <a:ext cx="469868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Attendance tracking and marks / grade management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286164" y="4913750"/>
            <a:ext cx="342792" cy="342801"/>
          </a:xfrm>
          <a:prstGeom prst="roundRect">
            <a:avLst>
              <a:gd name="adj" fmla="val 7501"/>
            </a:avLst>
          </a:prstGeom>
          <a:solidFill>
            <a:srgbClr val="F3E8E8"/>
          </a:solidFill>
          <a:ln/>
        </p:spPr>
      </p:sp>
      <p:sp>
        <p:nvSpPr>
          <p:cNvPr id="29" name="Text 24"/>
          <p:cNvSpPr/>
          <p:nvPr/>
        </p:nvSpPr>
        <p:spPr>
          <a:xfrm>
            <a:off x="6356707" y="4959093"/>
            <a:ext cx="201607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6776193" y="4951155"/>
            <a:ext cx="4698684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Future</a:t>
            </a:r>
            <a:endParaRPr lang="en-US" sz="1550" dirty="0"/>
          </a:p>
        </p:txBody>
      </p:sp>
      <p:sp>
        <p:nvSpPr>
          <p:cNvPr id="31" name="Text 26"/>
          <p:cNvSpPr/>
          <p:nvPr/>
        </p:nvSpPr>
        <p:spPr>
          <a:xfrm>
            <a:off x="6776193" y="5350511"/>
            <a:ext cx="469868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Fees management and automated report generation</a:t>
            </a:r>
            <a:endParaRPr lang="en-US" sz="13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E35ADA0-F1B8-B19F-6E62-5538E589CF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6079" y="6560397"/>
            <a:ext cx="1181265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3343"/>
            <a:ext cx="10795524" cy="540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Existing System vs. Proposed System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98086" y="1517948"/>
            <a:ext cx="5173434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❌</a:t>
            </a:r>
            <a:r>
              <a:rPr lang="en-US" sz="17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Existing System Limitations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979116"/>
            <a:ext cx="2501937" cy="22592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8930" y="2188369"/>
            <a:ext cx="198184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Unmanageable at Scale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08930" y="2898775"/>
            <a:ext cx="1981845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Paper files and spreadsheets break down as student numbers grow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69484" y="1979116"/>
            <a:ext cx="2502036" cy="22592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80328" y="2188369"/>
            <a:ext cx="1981944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Error &amp; Duplication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3680328" y="2628305"/>
            <a:ext cx="1981944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Manual data entry introduces mistakes and duplicate records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4407793"/>
            <a:ext cx="2501937" cy="17061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8930" y="4617045"/>
            <a:ext cx="198184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Slow Retrieval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008930" y="5056981"/>
            <a:ext cx="1981845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Searching through a large number of manually maintained records takes more time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9484" y="4407793"/>
            <a:ext cx="2502036" cy="170616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80328" y="4617045"/>
            <a:ext cx="1981944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Physical Risk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680328" y="5056981"/>
            <a:ext cx="1981944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Storage requirements grow and records risk being lost or misplaced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326525" y="1517948"/>
            <a:ext cx="5173434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✅</a:t>
            </a:r>
            <a:r>
              <a:rPr lang="en-US" sz="1700" dirty="0">
                <a:solidFill>
                  <a:srgbClr val="F5A3A3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Proposed System Features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6326525" y="1979116"/>
            <a:ext cx="2501937" cy="1925836"/>
          </a:xfrm>
          <a:prstGeom prst="roundRect">
            <a:avLst>
              <a:gd name="adj" fmla="val 1432"/>
            </a:avLst>
          </a:prstGeom>
          <a:solidFill>
            <a:srgbClr val="F3E8E8"/>
          </a:solidFill>
          <a:ln/>
        </p:spPr>
      </p:sp>
      <p:sp>
        <p:nvSpPr>
          <p:cNvPr id="18" name="Text 12"/>
          <p:cNvSpPr/>
          <p:nvPr/>
        </p:nvSpPr>
        <p:spPr>
          <a:xfrm>
            <a:off x="6510373" y="2162969"/>
            <a:ext cx="2134241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Menu-Driven Interface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510373" y="2873375"/>
            <a:ext cx="2134241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Intuitive C++ console application with clear navigation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8997923" y="1979116"/>
            <a:ext cx="2502036" cy="1925836"/>
          </a:xfrm>
          <a:prstGeom prst="roundRect">
            <a:avLst>
              <a:gd name="adj" fmla="val 1432"/>
            </a:avLst>
          </a:prstGeom>
          <a:solidFill>
            <a:srgbClr val="F3E8E8"/>
          </a:solidFill>
          <a:ln/>
        </p:spPr>
      </p:sp>
      <p:sp>
        <p:nvSpPr>
          <p:cNvPr id="21" name="Text 15"/>
          <p:cNvSpPr/>
          <p:nvPr/>
        </p:nvSpPr>
        <p:spPr>
          <a:xfrm>
            <a:off x="9181771" y="2162969"/>
            <a:ext cx="213434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Validated Input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9181771" y="2602905"/>
            <a:ext cx="213434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Add new student records with built-in input validation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326525" y="4074418"/>
            <a:ext cx="2501937" cy="1655366"/>
          </a:xfrm>
          <a:prstGeom prst="roundRect">
            <a:avLst>
              <a:gd name="adj" fmla="val 1666"/>
            </a:avLst>
          </a:prstGeom>
          <a:solidFill>
            <a:srgbClr val="F3E8E8"/>
          </a:solidFill>
          <a:ln/>
        </p:spPr>
      </p:sp>
      <p:sp>
        <p:nvSpPr>
          <p:cNvPr id="24" name="Text 18"/>
          <p:cNvSpPr/>
          <p:nvPr/>
        </p:nvSpPr>
        <p:spPr>
          <a:xfrm>
            <a:off x="6510373" y="4258270"/>
            <a:ext cx="2134241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Full CRUD Operations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6510373" y="4698206"/>
            <a:ext cx="2134241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Display, search, update, and delete records with ease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8997923" y="4074418"/>
            <a:ext cx="2502036" cy="1655366"/>
          </a:xfrm>
          <a:prstGeom prst="roundRect">
            <a:avLst>
              <a:gd name="adj" fmla="val 1666"/>
            </a:avLst>
          </a:prstGeom>
          <a:solidFill>
            <a:srgbClr val="F3E8E8"/>
          </a:solidFill>
          <a:ln/>
        </p:spPr>
      </p:sp>
      <p:sp>
        <p:nvSpPr>
          <p:cNvPr id="27" name="Text 21"/>
          <p:cNvSpPr/>
          <p:nvPr/>
        </p:nvSpPr>
        <p:spPr>
          <a:xfrm>
            <a:off x="9181771" y="4258270"/>
            <a:ext cx="213434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Persistent Storage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181771" y="4698206"/>
            <a:ext cx="213434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File handling ensures data is saved permanently between sessions</a:t>
            </a:r>
            <a:endParaRPr lang="en-US" sz="14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9F4BD27-6BC1-90A9-E095-797A0B904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6079" y="6560397"/>
            <a:ext cx="1181265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3102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Functional Requirements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316659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 Light" pitchFamily="34" charset="0"/>
                <a:ea typeface="Red Hat Text Light" pitchFamily="34" charset="-122"/>
                <a:cs typeface="Red Hat Text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8086" y="2630289"/>
            <a:ext cx="3465525" cy="86222"/>
          </a:xfrm>
          <a:prstGeom prst="rect">
            <a:avLst/>
          </a:prstGeom>
          <a:solidFill>
            <a:srgbClr val="F5A3A3"/>
          </a:solidFill>
          <a:ln/>
        </p:spPr>
      </p:sp>
      <p:sp>
        <p:nvSpPr>
          <p:cNvPr id="5" name="Text 3"/>
          <p:cNvSpPr/>
          <p:nvPr/>
        </p:nvSpPr>
        <p:spPr>
          <a:xfrm>
            <a:off x="698086" y="2780804"/>
            <a:ext cx="346552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FR1 — Add Student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8086" y="3193752"/>
            <a:ext cx="346552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Enter and save new student details with validation checks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363035" y="2316659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 Light" pitchFamily="34" charset="0"/>
                <a:ea typeface="Red Hat Text Light" pitchFamily="34" charset="-122"/>
                <a:cs typeface="Red Hat Text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63035" y="2630288"/>
            <a:ext cx="3465525" cy="86221"/>
          </a:xfrm>
          <a:prstGeom prst="rect">
            <a:avLst/>
          </a:prstGeom>
          <a:solidFill>
            <a:srgbClr val="F5A3A3"/>
          </a:solidFill>
          <a:ln/>
        </p:spPr>
      </p:sp>
      <p:sp>
        <p:nvSpPr>
          <p:cNvPr id="9" name="Text 7"/>
          <p:cNvSpPr/>
          <p:nvPr/>
        </p:nvSpPr>
        <p:spPr>
          <a:xfrm>
            <a:off x="4363035" y="2780804"/>
            <a:ext cx="346552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FR2 — Display Students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63035" y="3193752"/>
            <a:ext cx="346552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Show all stored records in a formatted, readable list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027985" y="2316659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 Light" pitchFamily="34" charset="0"/>
                <a:ea typeface="Red Hat Text Light" pitchFamily="34" charset="-122"/>
                <a:cs typeface="Red Hat Text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27985" y="2630289"/>
            <a:ext cx="3465624" cy="86220"/>
          </a:xfrm>
          <a:prstGeom prst="rect">
            <a:avLst/>
          </a:prstGeom>
          <a:solidFill>
            <a:srgbClr val="F5A3A3"/>
          </a:solidFill>
          <a:ln/>
        </p:spPr>
      </p:sp>
      <p:sp>
        <p:nvSpPr>
          <p:cNvPr id="13" name="Text 11"/>
          <p:cNvSpPr/>
          <p:nvPr/>
        </p:nvSpPr>
        <p:spPr>
          <a:xfrm>
            <a:off x="8027985" y="2780804"/>
            <a:ext cx="34656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FR3 — Search Student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27985" y="3193752"/>
            <a:ext cx="34656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Find a specific student record quickly by Student ID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98086" y="4181078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 Light" pitchFamily="34" charset="0"/>
                <a:ea typeface="Red Hat Text Light" pitchFamily="34" charset="-122"/>
                <a:cs typeface="Red Hat Text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98086" y="4494708"/>
            <a:ext cx="3465525" cy="93600"/>
          </a:xfrm>
          <a:prstGeom prst="rect">
            <a:avLst/>
          </a:prstGeom>
          <a:solidFill>
            <a:srgbClr val="F5A3A3"/>
          </a:solidFill>
          <a:ln/>
        </p:spPr>
      </p:sp>
      <p:sp>
        <p:nvSpPr>
          <p:cNvPr id="17" name="Text 15"/>
          <p:cNvSpPr/>
          <p:nvPr/>
        </p:nvSpPr>
        <p:spPr>
          <a:xfrm>
            <a:off x="698086" y="4645223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FR4 — Update Student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8086" y="5058172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Modify any field in an existing student record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176272" y="4182629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 Light" pitchFamily="34" charset="0"/>
                <a:ea typeface="Red Hat Text Light" pitchFamily="34" charset="-122"/>
                <a:cs typeface="Red Hat Text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176272" y="4496260"/>
            <a:ext cx="4574218" cy="93600"/>
          </a:xfrm>
          <a:prstGeom prst="rect">
            <a:avLst/>
          </a:prstGeom>
          <a:solidFill>
            <a:srgbClr val="F5A3A3"/>
          </a:solidFill>
          <a:ln/>
        </p:spPr>
      </p:sp>
      <p:sp>
        <p:nvSpPr>
          <p:cNvPr id="21" name="Text 19"/>
          <p:cNvSpPr/>
          <p:nvPr/>
        </p:nvSpPr>
        <p:spPr>
          <a:xfrm>
            <a:off x="5176272" y="4646774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FR5 — Delete Student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76272" y="5059723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Permanently remove a student record from the system</a:t>
            </a:r>
            <a:endParaRPr lang="en-US" sz="15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C7462C4-1743-257E-2A60-28B77B2A5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6079" y="6560397"/>
            <a:ext cx="1181265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2456"/>
            <a:ext cx="10795524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Non-Functional Requirements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094409"/>
            <a:ext cx="3481896" cy="348198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528" y="1612503"/>
            <a:ext cx="2168868" cy="2569964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4748" y="1780778"/>
            <a:ext cx="224328" cy="22433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854850" y="2360513"/>
            <a:ext cx="174422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Usability</a:t>
            </a:r>
            <a:endParaRPr lang="en-US" sz="1700" dirty="0"/>
          </a:p>
        </p:txBody>
      </p:sp>
      <p:sp>
        <p:nvSpPr>
          <p:cNvPr id="7" name="Text 2"/>
          <p:cNvSpPr/>
          <p:nvPr/>
        </p:nvSpPr>
        <p:spPr>
          <a:xfrm>
            <a:off x="4854850" y="2810867"/>
            <a:ext cx="1744222" cy="115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Simple menu with clear prompts and messages for all users</a:t>
            </a:r>
            <a:endParaRPr lang="en-US" sz="14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6710" y="1612503"/>
            <a:ext cx="2168868" cy="2569964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8931" y="1780778"/>
            <a:ext cx="224328" cy="22433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7199033" y="2360513"/>
            <a:ext cx="174422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11" name="Text 4"/>
          <p:cNvSpPr/>
          <p:nvPr/>
        </p:nvSpPr>
        <p:spPr>
          <a:xfrm>
            <a:off x="7199033" y="2810867"/>
            <a:ext cx="1744222" cy="115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Fast search and operations for typical academic data volumes</a:t>
            </a:r>
            <a:endParaRPr lang="en-US" sz="14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0893" y="1612503"/>
            <a:ext cx="2168967" cy="2569964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03113" y="1780778"/>
            <a:ext cx="224328" cy="224334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9543216" y="2360513"/>
            <a:ext cx="174432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Reliability</a:t>
            </a:r>
            <a:endParaRPr lang="en-US" sz="1700" dirty="0"/>
          </a:p>
        </p:txBody>
      </p:sp>
      <p:sp>
        <p:nvSpPr>
          <p:cNvPr id="15" name="Text 6"/>
          <p:cNvSpPr/>
          <p:nvPr/>
        </p:nvSpPr>
        <p:spPr>
          <a:xfrm>
            <a:off x="9543216" y="2810867"/>
            <a:ext cx="1744321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Proper handling of invalid inputs without crashes</a:t>
            </a:r>
            <a:endParaRPr lang="en-US" sz="145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528" y="4357787"/>
            <a:ext cx="6857332" cy="1700510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58931" y="4526062"/>
            <a:ext cx="224328" cy="224334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4854850" y="5105797"/>
            <a:ext cx="643268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Maintainability</a:t>
            </a:r>
            <a:endParaRPr lang="en-US" sz="1700" dirty="0"/>
          </a:p>
        </p:txBody>
      </p:sp>
      <p:sp>
        <p:nvSpPr>
          <p:cNvPr id="19" name="Text 8"/>
          <p:cNvSpPr/>
          <p:nvPr/>
        </p:nvSpPr>
        <p:spPr>
          <a:xfrm>
            <a:off x="4854850" y="5556151"/>
            <a:ext cx="6432687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Modular, well-structured code that is easy to extend</a:t>
            </a:r>
            <a:endParaRPr lang="en-US" sz="14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220014A-7032-5F9F-6935-052ADDC1DA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6079" y="6560397"/>
            <a:ext cx="1181265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System Modules</a:t>
            </a:r>
            <a:endParaRPr lang="en-US" sz="1800" dirty="0"/>
          </a:p>
        </p:txBody>
      </p:sp>
      <p:sp>
        <p:nvSpPr>
          <p:cNvPr id="20" name="Text Summary"/>
          <p:cNvSpPr/>
          <p:nvPr/>
        </p:nvSpPr>
        <p:spPr>
          <a:xfrm>
            <a:off x="698086" y="953812"/>
            <a:ext cx="10795524" cy="1365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2000"/>
              <a:t>The system consists of six main functions: Add, Display, Search, Update, Delete, and File Handling for persistent storage.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203" y="1741504"/>
            <a:ext cx="8829595" cy="496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39F54F-94CA-EFA5-FEE5-CC23C0497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6079" y="6560397"/>
            <a:ext cx="1181265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0451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Data Structure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485404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Student Class Attributes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8086" y="1913830"/>
            <a:ext cx="5184844" cy="4181872"/>
          </a:xfrm>
          <a:prstGeom prst="roundRect">
            <a:avLst>
              <a:gd name="adj" fmla="val 62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086" y="2380952"/>
            <a:ext cx="5184844" cy="109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8086" y="2844899"/>
            <a:ext cx="5184844" cy="109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8086" y="3308846"/>
            <a:ext cx="5184844" cy="109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8086" y="3772793"/>
            <a:ext cx="5184844" cy="109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8086" y="4236740"/>
            <a:ext cx="5184844" cy="109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8086" y="4700687"/>
            <a:ext cx="5184844" cy="109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98086" y="5164634"/>
            <a:ext cx="5184844" cy="109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98086" y="5628580"/>
            <a:ext cx="5184844" cy="109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78957" y="2018109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Attribute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65029" y="2018109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Type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78957" y="2482056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studentId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65029" y="2482056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78957" y="2946003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name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65029" y="2946003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8957" y="3409950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age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465029" y="3409950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78957" y="3873897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gender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465029" y="3873897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78957" y="4337844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course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465029" y="4337844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78957" y="4801791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department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465029" y="4801791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78957" y="5265738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phone / email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465029" y="5265738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78957" y="5729684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marks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465029" y="5729684"/>
            <a:ext cx="2846614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float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15115" y="1485404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Core C++ Design Decisions</a:t>
            </a:r>
            <a:endParaRPr lang="en-US" sz="16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066" y="1894780"/>
            <a:ext cx="2516025" cy="1494433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527736" y="1913830"/>
            <a:ext cx="228435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Class &amp; Object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527736" y="2323207"/>
            <a:ext cx="2284355" cy="1046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Student class encapsulates all data fields and member functions for clean OOP design</a:t>
            </a:r>
            <a:endParaRPr lang="en-US" sz="14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3934" y="1894780"/>
            <a:ext cx="2516025" cy="1494433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215604" y="1913830"/>
            <a:ext cx="228435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Vector&lt;Student&gt;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9215604" y="2323207"/>
            <a:ext cx="2284355" cy="78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STL vector manages dynamic collections of multiple student records in memory</a:t>
            </a:r>
            <a:endParaRPr lang="en-US" sz="140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6066" y="3656509"/>
            <a:ext cx="5203893" cy="970955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527736" y="3675559"/>
            <a:ext cx="497222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File I/O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6527736" y="4084935"/>
            <a:ext cx="4972223" cy="5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fstream-based file handling ensures permanent data persistence across sessions</a:t>
            </a:r>
            <a:endParaRPr lang="en-US" sz="14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DB69A19-1067-0357-C4A3-1FA4D85CD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6079" y="6560397"/>
            <a:ext cx="1181265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3E8E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5" y="493216"/>
            <a:ext cx="4403516" cy="587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603151"/>
            <a:ext cx="6223638" cy="495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Implementation Approach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269971" y="1311275"/>
            <a:ext cx="6223638" cy="74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Student Record Manager is built on a clean, modular C++ architecture — each functional requirement maps directly to an independent module, ensuring the system is easy to develop, test, and extend.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971" y="2215455"/>
            <a:ext cx="841552" cy="10098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53502" y="2383730"/>
            <a:ext cx="5240107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Design Class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253502" y="2716411"/>
            <a:ext cx="5240107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Define Student class with all attributes and methods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9971" y="3225304"/>
            <a:ext cx="841552" cy="10098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53502" y="3393579"/>
            <a:ext cx="5240107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Build Modules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253502" y="3726259"/>
            <a:ext cx="5240107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Implement Add, Display, Search, Update, Delete functions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9971" y="4235152"/>
            <a:ext cx="841552" cy="10098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53502" y="4403427"/>
            <a:ext cx="5240107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Add File I/O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253502" y="4736108"/>
            <a:ext cx="5240107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Integrate persistent storage with fstream read/write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9971" y="5245001"/>
            <a:ext cx="841552" cy="10098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53502" y="5413276"/>
            <a:ext cx="5240107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Test &amp; Validate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6253502" y="5745956"/>
            <a:ext cx="5240107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Verify all operations with edge cases and invalid inputs</a:t>
            </a: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EC44A98-56E7-BDF7-4BCB-B9F9EEF7DD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6079" y="6560397"/>
            <a:ext cx="1181265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1885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Key C++ Concepts &amp; Implementation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804491"/>
            <a:ext cx="398949" cy="3989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6365" y="1873052"/>
            <a:ext cx="278400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Data Structures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46365" y="2286000"/>
            <a:ext cx="2784008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vector&lt;Student&gt; stores records dynamically, with fields: ID, name, age, gender, course, department, contact, and marks.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9704" y="1804491"/>
            <a:ext cx="398949" cy="3989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7983" y="1873052"/>
            <a:ext cx="278400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Modular Functions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027983" y="2286000"/>
            <a:ext cx="278400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Separate functions for each CRUD operation ensuring code reusability and clean architecture.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1322" y="1804491"/>
            <a:ext cx="398949" cy="3989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09601" y="1873052"/>
            <a:ext cx="278400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File Handling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709601" y="2286000"/>
            <a:ext cx="278400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File I/O operations for persistent data storage between application sessions.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280892"/>
            <a:ext cx="398949" cy="3989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46365" y="4349452"/>
            <a:ext cx="278400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Input Validation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346365" y="4762401"/>
            <a:ext cx="278400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Error checking for duplicate IDs, invalid data types, and boundary conditions.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79704" y="4280892"/>
            <a:ext cx="398949" cy="39895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27983" y="4349452"/>
            <a:ext cx="278400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Control Flow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5027983" y="4762401"/>
            <a:ext cx="278400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Switch-case statements for menu navigation and conditional logic for data operations.</a:t>
            </a:r>
            <a:endParaRPr lang="en-US" sz="15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8E09011-D130-942E-7D56-59B83417DC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6079" y="6560397"/>
            <a:ext cx="1181265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5526"/>
            <a:ext cx="10795524" cy="375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System Workflow &amp; Architecture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014" y="1094184"/>
            <a:ext cx="6903666" cy="33937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2157" y="1412789"/>
            <a:ext cx="1485819" cy="18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Execute Operation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22157" y="1654547"/>
            <a:ext cx="3192669" cy="129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Add/Display/Search/Update/Delete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22157" y="2205713"/>
            <a:ext cx="1485819" cy="18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Validate Input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22157" y="2447472"/>
            <a:ext cx="3192669" cy="12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Check user entries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22157" y="2998638"/>
            <a:ext cx="1485819" cy="18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Show Menu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22157" y="3240397"/>
            <a:ext cx="3192669" cy="12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Display core operations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29174" y="3791562"/>
            <a:ext cx="1485819" cy="185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Start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29174" y="4033321"/>
            <a:ext cx="3192670" cy="12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Launch application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1246" y="3910386"/>
            <a:ext cx="5242092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Main System Flow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61246" y="4346079"/>
            <a:ext cx="5242092" cy="1343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03200" indent="-203200" algn="l">
              <a:lnSpc>
                <a:spcPct val="109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 launches the Student Record Manager</a:t>
            </a:r>
            <a:endParaRPr lang="en-US" sz="1600" dirty="0"/>
          </a:p>
          <a:p>
            <a:pPr marL="203200" indent="-203200" algn="l">
              <a:lnSpc>
                <a:spcPct val="109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Menu interface displays five core operations</a:t>
            </a:r>
            <a:endParaRPr lang="en-US" sz="1600" dirty="0"/>
          </a:p>
          <a:p>
            <a:pPr marL="203200" indent="-203200" algn="l">
              <a:lnSpc>
                <a:spcPct val="1090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 selects Add, Display, Search, Update, or Delete</a:t>
            </a:r>
            <a:endParaRPr lang="en-US" sz="1600" dirty="0"/>
          </a:p>
          <a:p>
            <a:pPr marL="203200" indent="-203200" algn="l">
              <a:lnSpc>
                <a:spcPct val="1090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System processes input with validation checks</a:t>
            </a:r>
            <a:endParaRPr lang="en-US" sz="1600" dirty="0"/>
          </a:p>
          <a:p>
            <a:pPr marL="203200" indent="-203200" algn="l">
              <a:lnSpc>
                <a:spcPct val="10900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 stored/retrieved via file-based persistent storage</a:t>
            </a:r>
            <a:endParaRPr lang="en-US" sz="1600" dirty="0"/>
          </a:p>
          <a:p>
            <a:pPr marL="203200" indent="-203200" algn="l">
              <a:lnSpc>
                <a:spcPct val="109000"/>
              </a:lnSpc>
              <a:buSzPct val="100000"/>
              <a:buFont typeface="+mj-lt"/>
              <a:buAutoNum type="arabicPeriod" startAt="6"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Results displayed in formatted output</a:t>
            </a:r>
            <a:endParaRPr lang="en-US" sz="1600" dirty="0"/>
          </a:p>
          <a:p>
            <a:pPr marL="203200" indent="-203200" algn="l">
              <a:lnSpc>
                <a:spcPct val="109000"/>
              </a:lnSpc>
              <a:buSzPct val="100000"/>
              <a:buFont typeface="+mj-lt"/>
              <a:buAutoNum type="arabicPeriod" startAt="7"/>
            </a:pPr>
            <a:r>
              <a:rPr lang="en-US" sz="16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 returns to menu or exits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57868" y="4671715"/>
            <a:ext cx="2580218" cy="691852"/>
          </a:xfrm>
          <a:prstGeom prst="roundRect">
            <a:avLst>
              <a:gd name="adj" fmla="val 2767"/>
            </a:avLst>
          </a:prstGeom>
          <a:solidFill>
            <a:srgbClr val="F3E8E8"/>
          </a:solidFill>
          <a:ln/>
        </p:spPr>
      </p:sp>
      <p:sp>
        <p:nvSpPr>
          <p:cNvPr id="15" name="Text 12"/>
          <p:cNvSpPr/>
          <p:nvPr/>
        </p:nvSpPr>
        <p:spPr>
          <a:xfrm>
            <a:off x="6385460" y="4799310"/>
            <a:ext cx="2325034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Input Validation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85460" y="5068590"/>
            <a:ext cx="2325034" cy="167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Duplicate IDs &amp; type checks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919741" y="4671715"/>
            <a:ext cx="2580218" cy="691852"/>
          </a:xfrm>
          <a:prstGeom prst="roundRect">
            <a:avLst>
              <a:gd name="adj" fmla="val 2767"/>
            </a:avLst>
          </a:prstGeom>
          <a:solidFill>
            <a:srgbClr val="F3E8E8"/>
          </a:solidFill>
          <a:ln/>
        </p:spPr>
      </p:sp>
      <p:sp>
        <p:nvSpPr>
          <p:cNvPr id="18" name="Text 15"/>
          <p:cNvSpPr/>
          <p:nvPr/>
        </p:nvSpPr>
        <p:spPr>
          <a:xfrm>
            <a:off x="9047333" y="4799310"/>
            <a:ext cx="2325034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CRUD Operations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047333" y="5068590"/>
            <a:ext cx="2325034" cy="167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Add, Display, Search, Update, Delete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57868" y="5445224"/>
            <a:ext cx="2580218" cy="691852"/>
          </a:xfrm>
          <a:prstGeom prst="roundRect">
            <a:avLst>
              <a:gd name="adj" fmla="val 2767"/>
            </a:avLst>
          </a:prstGeom>
          <a:solidFill>
            <a:srgbClr val="F3E8E8"/>
          </a:solidFill>
          <a:ln/>
        </p:spPr>
      </p:sp>
      <p:sp>
        <p:nvSpPr>
          <p:cNvPr id="21" name="Text 18"/>
          <p:cNvSpPr/>
          <p:nvPr/>
        </p:nvSpPr>
        <p:spPr>
          <a:xfrm>
            <a:off x="6385460" y="5572820"/>
            <a:ext cx="2325034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File Handling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85460" y="5842099"/>
            <a:ext cx="2325034" cy="167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Persistent storage across sessions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919741" y="5445224"/>
            <a:ext cx="2580218" cy="691852"/>
          </a:xfrm>
          <a:prstGeom prst="roundRect">
            <a:avLst>
              <a:gd name="adj" fmla="val 2767"/>
            </a:avLst>
          </a:prstGeom>
          <a:solidFill>
            <a:srgbClr val="F3E8E8"/>
          </a:solidFill>
          <a:ln/>
        </p:spPr>
      </p:sp>
      <p:sp>
        <p:nvSpPr>
          <p:cNvPr id="24" name="Text 21"/>
          <p:cNvSpPr/>
          <p:nvPr/>
        </p:nvSpPr>
        <p:spPr>
          <a:xfrm>
            <a:off x="9047333" y="5572820"/>
            <a:ext cx="2325034" cy="187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Menu Interface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047333" y="5842099"/>
            <a:ext cx="2325034" cy="167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Switch-case driven navigation</a:t>
            </a:r>
            <a:endParaRPr lang="en-US" sz="1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6A4ADA9-1EFE-16F7-5EDA-52D0F00A8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6079" y="6560397"/>
            <a:ext cx="1181265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34529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Hardware &amp; Software Requirements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199668"/>
            <a:ext cx="4985084" cy="55367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78307" y="1405150"/>
            <a:ext cx="5215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Hardware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284656" y="1710431"/>
            <a:ext cx="521530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Any modern processor (Intel/AMD)</a:t>
            </a:r>
            <a:endParaRPr lang="en-US" sz="140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 GB RAM or above</a:t>
            </a:r>
            <a:endParaRPr lang="en-US" sz="140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Minimal storage — under 100 MB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84656" y="2469455"/>
            <a:ext cx="5215303" cy="19050"/>
          </a:xfrm>
          <a:prstGeom prst="roundRect">
            <a:avLst>
              <a:gd name="adj" fmla="val 49999"/>
            </a:avLst>
          </a:prstGeom>
          <a:solidFill>
            <a:srgbClr val="3B3535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284656" y="2652018"/>
            <a:ext cx="5215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Software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78306" y="2907705"/>
            <a:ext cx="5215303" cy="706735"/>
          </a:xfrm>
          <a:prstGeom prst="rect">
            <a:avLst/>
          </a:prstGeom>
          <a:noFill/>
          <a:ln/>
        </p:spPr>
        <p:txBody>
          <a:bodyPr wrap="square" lIns="0" tIns="59844" rIns="0" bIns="0" rtlCol="0" anchor="t">
            <a:noAutofit/>
          </a:bodyPr>
          <a:lstStyle/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Windows / Linux / macOS</a:t>
            </a:r>
            <a:endParaRPr lang="en-US" sz="140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C++ compiler (GCC, Clang, or MSVC)</a:t>
            </a:r>
            <a:endParaRPr lang="en-US" sz="140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VS Code, Code::Blocks, or Visual Studio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84656" y="3854351"/>
            <a:ext cx="5215303" cy="19050"/>
          </a:xfrm>
          <a:prstGeom prst="roundRect">
            <a:avLst>
              <a:gd name="adj" fmla="val 49999"/>
            </a:avLst>
          </a:prstGeom>
          <a:solidFill>
            <a:srgbClr val="3B3535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284656" y="4036913"/>
            <a:ext cx="521530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Future Enhancements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284656" y="4296653"/>
            <a:ext cx="5215303" cy="706735"/>
          </a:xfrm>
          <a:prstGeom prst="rect">
            <a:avLst/>
          </a:prstGeom>
          <a:noFill/>
          <a:ln/>
        </p:spPr>
        <p:txBody>
          <a:bodyPr wrap="square" lIns="0" tIns="59844" rIns="0" bIns="0" rtlCol="0" anchor="t">
            <a:noAutofit/>
          </a:bodyPr>
          <a:lstStyle/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GUI development for improved usability</a:t>
            </a:r>
            <a:endParaRPr lang="en-US" sz="140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Database integration (SQL backend)</a:t>
            </a:r>
            <a:endParaRPr lang="en-US" sz="1400" dirty="0"/>
          </a:p>
          <a:p>
            <a:pPr marL="233680" indent="-2336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Advanced reporting and analytics features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770617" y="5340152"/>
            <a:ext cx="457982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11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4C9AC78-BF8D-F288-F51D-2B90B0A80029}"/>
                  </a:ext>
                </a:extLst>
              </p14:cNvPr>
              <p14:cNvContentPartPr/>
              <p14:nvPr/>
            </p14:nvContentPartPr>
            <p14:xfrm>
              <a:off x="11176472" y="6633110"/>
              <a:ext cx="780480" cy="57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4C9AC78-BF8D-F288-F51D-2B90B0A800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22472" y="6525110"/>
                <a:ext cx="88812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91F54AA-9AA7-554C-FC36-5F5B40A9F2C2}"/>
                  </a:ext>
                </a:extLst>
              </p14:cNvPr>
              <p14:cNvContentPartPr/>
              <p14:nvPr/>
            </p14:nvContentPartPr>
            <p14:xfrm>
              <a:off x="11196632" y="6549142"/>
              <a:ext cx="655920" cy="66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91F54AA-9AA7-554C-FC36-5F5B40A9F2C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142632" y="6441502"/>
                <a:ext cx="7635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B8513BB-8EF7-A25C-0D11-856AFCF739F3}"/>
                  </a:ext>
                </a:extLst>
              </p14:cNvPr>
              <p14:cNvContentPartPr/>
              <p14:nvPr/>
            </p14:nvContentPartPr>
            <p14:xfrm>
              <a:off x="11075312" y="6357622"/>
              <a:ext cx="1516680" cy="304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B8513BB-8EF7-A25C-0D11-856AFCF739F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021312" y="6249982"/>
                <a:ext cx="1624320" cy="520200"/>
              </a:xfrm>
              <a:prstGeom prst="rect">
                <a:avLst/>
              </a:prstGeom>
            </p:spPr>
          </p:pic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8D38C92B-2BED-0B58-BA21-26DC540C34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76079" y="6560397"/>
            <a:ext cx="1181265" cy="2667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9829800" cy="56692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1F1E1E"/>
                </a:solidFill>
                <a:latin typeface="Red Hat Text"/>
              </a:rPr>
              <a:t>Review-2: Implementation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982980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3B3535"/>
                </a:solidFill>
                <a:latin typeface="Roboto Light"/>
              </a:rPr>
              <a:t>Student Record Manager • Team 8 • C++ Console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331720" cy="333756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627631"/>
            <a:ext cx="1508618" cy="664797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800" b="1" dirty="0">
                <a:solidFill>
                  <a:srgbClr val="3B3535"/>
                </a:solidFill>
                <a:latin typeface="Red Hat Text"/>
              </a:rPr>
              <a:t>1  Completed </a:t>
            </a:r>
            <a:endParaRPr lang="en-US" sz="1800" b="1" dirty="0">
              <a:solidFill>
                <a:srgbClr val="3B3535"/>
              </a:solidFill>
              <a:latin typeface="Red Hat Text"/>
            </a:endParaRPr>
          </a:p>
          <a:p>
            <a:pPr algn="l"/>
            <a:r>
              <a:rPr sz="1800" b="1" dirty="0">
                <a:solidFill>
                  <a:srgbClr val="3B3535"/>
                </a:solidFill>
                <a:latin typeface="Red Hat Text"/>
              </a:rPr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292428"/>
            <a:ext cx="1824410" cy="2188291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0" dirty="0">
                <a:solidFill>
                  <a:srgbClr val="3B3535"/>
                </a:solidFill>
                <a:latin typeface="Roboto Light"/>
              </a:rPr>
              <a:t>Demonstrate the </a:t>
            </a:r>
            <a:endParaRPr lang="en-US" sz="15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500" b="0" dirty="0">
                <a:solidFill>
                  <a:srgbClr val="3B3535"/>
                </a:solidFill>
                <a:latin typeface="Roboto Light"/>
              </a:rPr>
              <a:t>completed modules:
• Add Student
• Display Students
• Search Student
• Update Student
• Delete Student
• File Handling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508760"/>
            <a:ext cx="2331720" cy="333756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45397" y="1655663"/>
            <a:ext cx="20025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800" b="1" dirty="0">
                <a:solidFill>
                  <a:srgbClr val="3B3535"/>
                </a:solidFill>
                <a:latin typeface="Red Hat Text"/>
              </a:rPr>
              <a:t>2  Code &amp;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0712" y="2029967"/>
            <a:ext cx="2247603" cy="1957459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0" dirty="0">
                <a:solidFill>
                  <a:srgbClr val="3B3535"/>
                </a:solidFill>
                <a:latin typeface="Roboto Light"/>
              </a:rPr>
              <a:t>Explain the functions </a:t>
            </a:r>
            <a:endParaRPr lang="en-US" sz="15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500" b="0" dirty="0">
                <a:solidFill>
                  <a:srgbClr val="3B3535"/>
                </a:solidFill>
                <a:latin typeface="Roboto Light"/>
              </a:rPr>
              <a:t>completed so far and </a:t>
            </a:r>
            <a:endParaRPr lang="en-US" sz="15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500" b="0" dirty="0">
                <a:solidFill>
                  <a:srgbClr val="3B3535"/>
                </a:solidFill>
                <a:latin typeface="Roboto Light"/>
              </a:rPr>
              <a:t>connect each function to </a:t>
            </a:r>
            <a:endParaRPr lang="en-US" sz="15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500" b="0" dirty="0">
                <a:solidFill>
                  <a:srgbClr val="3B3535"/>
                </a:solidFill>
                <a:latin typeface="Roboto Light"/>
              </a:rPr>
              <a:t>its module.
Include the execution </a:t>
            </a:r>
            <a:endParaRPr lang="en-US" sz="15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500" b="0" dirty="0">
                <a:solidFill>
                  <a:srgbClr val="3B3535"/>
                </a:solidFill>
                <a:latin typeface="Roboto Light"/>
              </a:rPr>
              <a:t>flow and representative </a:t>
            </a:r>
            <a:endParaRPr lang="en-US" sz="15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500" b="0" dirty="0">
                <a:solidFill>
                  <a:srgbClr val="3B3535"/>
                </a:solidFill>
                <a:latin typeface="Roboto Light"/>
              </a:rPr>
              <a:t>outputs.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508760"/>
            <a:ext cx="2331720" cy="333756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55706" y="1662607"/>
            <a:ext cx="20025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800" b="1" dirty="0">
                <a:solidFill>
                  <a:srgbClr val="3B3535"/>
                </a:solidFill>
                <a:latin typeface="Red Hat Text"/>
              </a:rPr>
              <a:t>3  C++ Concepts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2029967"/>
            <a:ext cx="1971886" cy="2188291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0" dirty="0">
                <a:solidFill>
                  <a:srgbClr val="3B3535"/>
                </a:solidFill>
                <a:latin typeface="Roboto Light"/>
              </a:rPr>
              <a:t>Demonstrate relevant </a:t>
            </a:r>
            <a:endParaRPr lang="en-US" sz="15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500" b="0" dirty="0">
                <a:solidFill>
                  <a:srgbClr val="3B3535"/>
                </a:solidFill>
                <a:latin typeface="Roboto Light"/>
              </a:rPr>
              <a:t>concepts:
• Class &amp; Object
• vector&lt;Student&gt;
• Functions
• </a:t>
            </a:r>
            <a:r>
              <a:rPr sz="1500" b="0" dirty="0" err="1">
                <a:solidFill>
                  <a:srgbClr val="3B3535"/>
                </a:solidFill>
                <a:latin typeface="Roboto Light"/>
              </a:rPr>
              <a:t>fstream</a:t>
            </a:r>
            <a:r>
              <a:rPr sz="1500" b="0" dirty="0">
                <a:solidFill>
                  <a:srgbClr val="3B3535"/>
                </a:solidFill>
                <a:latin typeface="Roboto Light"/>
              </a:rPr>
              <a:t>
• switch-case
• Input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508760"/>
            <a:ext cx="2331720" cy="333756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67344" y="1634535"/>
            <a:ext cx="20025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800" b="1" dirty="0">
                <a:solidFill>
                  <a:srgbClr val="3B3535"/>
                </a:solidFill>
                <a:latin typeface="Red Hat Text"/>
              </a:rPr>
              <a:t>4 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2029967"/>
            <a:ext cx="2069669" cy="149579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0" dirty="0">
                <a:solidFill>
                  <a:srgbClr val="3B3535"/>
                </a:solidFill>
                <a:latin typeface="Roboto Light"/>
              </a:rPr>
              <a:t>Present the </a:t>
            </a:r>
            <a:endParaRPr lang="en-US" sz="15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500" b="0" dirty="0">
                <a:solidFill>
                  <a:srgbClr val="3B3535"/>
                </a:solidFill>
                <a:latin typeface="Roboto Light"/>
              </a:rPr>
              <a:t>implementation clearly </a:t>
            </a:r>
            <a:endParaRPr lang="en-US" sz="15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500" b="0" dirty="0">
                <a:solidFill>
                  <a:srgbClr val="3B3535"/>
                </a:solidFill>
                <a:latin typeface="Roboto Light"/>
              </a:rPr>
              <a:t>and explain each </a:t>
            </a:r>
            <a:endParaRPr lang="en-US" sz="15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500" b="0" dirty="0">
                <a:solidFill>
                  <a:srgbClr val="3B3535"/>
                </a:solidFill>
                <a:latin typeface="Roboto Light"/>
              </a:rPr>
              <a:t>member's actual </a:t>
            </a:r>
            <a:endParaRPr lang="en-US" sz="15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500" b="0" dirty="0">
                <a:solidFill>
                  <a:srgbClr val="3B3535"/>
                </a:solidFill>
                <a:latin typeface="Roboto Light"/>
              </a:rPr>
              <a:t>contribution to the </a:t>
            </a:r>
            <a:endParaRPr lang="en-US" sz="15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500" b="0" dirty="0">
                <a:solidFill>
                  <a:srgbClr val="3B3535"/>
                </a:solidFill>
                <a:latin typeface="Roboto Light"/>
              </a:rPr>
              <a:t>project.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10012680" cy="50292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500" b="1">
                <a:solidFill>
                  <a:srgbClr val="005493"/>
                </a:solidFill>
                <a:latin typeface="Red Hat Text"/>
              </a:rPr>
              <a:t>Review focus: implementation evidence + code explanation + output demonstration + individual contribution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485CDB-6F8B-18E6-BD57-F039A5D38E1A}"/>
              </a:ext>
            </a:extLst>
          </p:cNvPr>
          <p:cNvSpPr/>
          <p:nvPr/>
        </p:nvSpPr>
        <p:spPr>
          <a:xfrm>
            <a:off x="10926147" y="6512767"/>
            <a:ext cx="1265853" cy="345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9829800" cy="56692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1F1E1E"/>
                </a:solidFill>
                <a:latin typeface="Red Hat Text"/>
              </a:rPr>
              <a:t>Completed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982980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3B3535"/>
                </a:solidFill>
                <a:latin typeface="Roboto Light"/>
              </a:rPr>
              <a:t>Six main functions described in the project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788920" cy="160020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536192"/>
            <a:ext cx="24597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3B3535"/>
                </a:solidFill>
                <a:latin typeface="Red Hat Text"/>
              </a:rPr>
              <a:t>Add 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308" y="1984510"/>
            <a:ext cx="2678810" cy="510909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Collect and validate student details,</a:t>
            </a:r>
            <a:endParaRPr lang="en-US" sz="13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 then store the record.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1417320"/>
            <a:ext cx="2788920" cy="160020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50791" y="1536192"/>
            <a:ext cx="24597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3B3535"/>
                </a:solidFill>
                <a:latin typeface="Red Hat Text"/>
              </a:rPr>
              <a:t>Display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0791" y="1938528"/>
            <a:ext cx="2164247" cy="510909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Show all stored records in a </a:t>
            </a:r>
            <a:endParaRPr lang="en-US" sz="13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formatted, readable 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1417320"/>
            <a:ext cx="2788920" cy="160020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51192" y="1536192"/>
            <a:ext cx="24597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3B3535"/>
                </a:solidFill>
                <a:latin typeface="Red Hat Text"/>
              </a:rPr>
              <a:t>Search 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5878" y="1984510"/>
            <a:ext cx="2271648" cy="510909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Locate a record quickly using </a:t>
            </a:r>
            <a:endParaRPr lang="en-US" sz="13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Student 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2788920" cy="160020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3547872"/>
            <a:ext cx="24597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3B3535"/>
                </a:solidFill>
                <a:latin typeface="Red Hat Text"/>
              </a:rPr>
              <a:t>Update Student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950208"/>
            <a:ext cx="2630720" cy="510909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Modify fields in an existing student</a:t>
            </a:r>
            <a:endParaRPr lang="en-US" sz="13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 record.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429000"/>
            <a:ext cx="2788920" cy="160020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50791" y="3547872"/>
            <a:ext cx="24597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3B3535"/>
                </a:solidFill>
                <a:latin typeface="Red Hat Text"/>
              </a:rPr>
              <a:t>Delete Student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0791" y="3950208"/>
            <a:ext cx="2459736" cy="978407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3B3535"/>
                </a:solidFill>
                <a:latin typeface="Roboto Light"/>
              </a:rPr>
              <a:t>Remove an existing student record.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3429000"/>
            <a:ext cx="2788920" cy="160020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51192" y="3547872"/>
            <a:ext cx="24597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3B3535"/>
                </a:solidFill>
                <a:latin typeface="Red Hat Text"/>
              </a:rPr>
              <a:t>File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6252" y="3966909"/>
            <a:ext cx="2709268" cy="510909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Read/write records so data persists</a:t>
            </a:r>
            <a:endParaRPr lang="en-US" sz="13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 across sessions.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21808"/>
            <a:ext cx="9646920" cy="438912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300" b="0">
                <a:solidFill>
                  <a:srgbClr val="3B3535"/>
                </a:solidFill>
                <a:latin typeface="Roboto Light"/>
              </a:rPr>
              <a:t>Module mapping follows the project's stated system modules and functional requirements.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2B7FF4-F08C-2B8A-3F08-07A5AA45B8A4}"/>
              </a:ext>
            </a:extLst>
          </p:cNvPr>
          <p:cNvSpPr/>
          <p:nvPr/>
        </p:nvSpPr>
        <p:spPr>
          <a:xfrm>
            <a:off x="10926147" y="6512767"/>
            <a:ext cx="1265853" cy="345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9829800" cy="56692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1F1E1E"/>
                </a:solidFill>
                <a:latin typeface="Red Hat Text"/>
              </a:rPr>
              <a:t>Code / Function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982980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3B3535"/>
                </a:solidFill>
                <a:latin typeface="Roboto Light"/>
              </a:rPr>
              <a:t>Representative excerpts aligned with the documented implementation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489204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3B3535"/>
                </a:solidFill>
                <a:latin typeface="Red Hat Text"/>
              </a:rPr>
              <a:t>Student class + Add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4782310" cy="2633472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700784"/>
            <a:ext cx="4672583" cy="1911095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0">
                <a:solidFill>
                  <a:srgbClr val="282828"/>
                </a:solidFill>
                <a:latin typeface="Consolas"/>
              </a:rPr>
              <a:t>class Student {
public:
    string studentId, name, gender;
    string course, department;
    string phoneEmail;
    int age;
    float marks;
};
void addStudent(vector&lt;Student&gt;&amp; students) {
    Student s;
    // read + validate fields
    // reject duplicate Student ID
    students.push_back(s);
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80160"/>
            <a:ext cx="489204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3B3535"/>
                </a:solidFill>
                <a:latin typeface="Red Hat Text"/>
              </a:rPr>
              <a:t>Search + Update + 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627632"/>
            <a:ext cx="4892040" cy="205740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16168" y="1700784"/>
            <a:ext cx="4672583" cy="1911095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0">
                <a:solidFill>
                  <a:srgbClr val="282828"/>
                </a:solidFill>
                <a:latin typeface="Consolas"/>
              </a:rPr>
              <a:t>int findStudent(const vector&lt;Student&gt;&amp; v, string id) {
    for (int i = 0; i &lt; v.size(); ++i)
        if (v[i].studentId == id) return i;
    return -1;
}
// update: locate index, then edit fields
// delete: locate index, then erase(v.begin()+i)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13518"/>
            <a:ext cx="489204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700" b="1" dirty="0">
                <a:solidFill>
                  <a:srgbClr val="3B3535"/>
                </a:solidFill>
                <a:latin typeface="Red Hat Text"/>
              </a:rPr>
              <a:t>File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72000"/>
            <a:ext cx="4782311" cy="1604864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" y="4801346"/>
            <a:ext cx="4672583" cy="11795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0" dirty="0" err="1">
                <a:solidFill>
                  <a:srgbClr val="282828"/>
                </a:solidFill>
                <a:latin typeface="Consolas"/>
              </a:rPr>
              <a:t>fstream</a:t>
            </a:r>
            <a:r>
              <a:rPr sz="1050" b="0" dirty="0">
                <a:solidFill>
                  <a:srgbClr val="282828"/>
                </a:solidFill>
                <a:latin typeface="Consolas"/>
              </a:rPr>
              <a:t> file("students.dat",
             </a:t>
            </a:r>
            <a:r>
              <a:rPr sz="1050" b="0" dirty="0" err="1">
                <a:solidFill>
                  <a:srgbClr val="282828"/>
                </a:solidFill>
                <a:latin typeface="Consolas"/>
              </a:rPr>
              <a:t>ios</a:t>
            </a:r>
            <a:r>
              <a:rPr sz="1050" b="0" dirty="0">
                <a:solidFill>
                  <a:srgbClr val="282828"/>
                </a:solidFill>
                <a:latin typeface="Consolas"/>
              </a:rPr>
              <a:t>::in | </a:t>
            </a:r>
            <a:r>
              <a:rPr sz="1050" b="0" dirty="0" err="1">
                <a:solidFill>
                  <a:srgbClr val="282828"/>
                </a:solidFill>
                <a:latin typeface="Consolas"/>
              </a:rPr>
              <a:t>ios</a:t>
            </a:r>
            <a:r>
              <a:rPr sz="1050" b="0" dirty="0">
                <a:solidFill>
                  <a:srgbClr val="282828"/>
                </a:solidFill>
                <a:latin typeface="Consolas"/>
              </a:rPr>
              <a:t>::out | </a:t>
            </a:r>
            <a:r>
              <a:rPr sz="1050" b="0" dirty="0" err="1">
                <a:solidFill>
                  <a:srgbClr val="282828"/>
                </a:solidFill>
                <a:latin typeface="Consolas"/>
              </a:rPr>
              <a:t>ios</a:t>
            </a:r>
            <a:r>
              <a:rPr sz="1050" b="0" dirty="0">
                <a:solidFill>
                  <a:srgbClr val="282828"/>
                </a:solidFill>
                <a:latin typeface="Consolas"/>
              </a:rPr>
              <a:t>::app);
// write records when saving
// read records when loading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913632"/>
            <a:ext cx="489204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3B3535"/>
                </a:solidFill>
                <a:latin typeface="Red Hat Text"/>
              </a:rPr>
              <a:t>Menu control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4261104"/>
            <a:ext cx="4892040" cy="132588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16168" y="4334256"/>
            <a:ext cx="4672583" cy="11795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00" b="0">
                <a:solidFill>
                  <a:srgbClr val="282828"/>
                </a:solidFill>
                <a:latin typeface="Consolas"/>
              </a:rPr>
              <a:t>switch(choice) {
case 1: addStudent(students); break;
case 2: displayStudents(students); break;
case 3: searchStudent(students); break;
case 4: updateStudent(students); break;
case 5: deleteStudent(students); break;
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CE6526-C6D3-BB60-A8AB-963B38634F6B}"/>
              </a:ext>
            </a:extLst>
          </p:cNvPr>
          <p:cNvSpPr/>
          <p:nvPr/>
        </p:nvSpPr>
        <p:spPr>
          <a:xfrm>
            <a:off x="10926147" y="6512767"/>
            <a:ext cx="1265853" cy="345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9829800" cy="56692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1F1E1E"/>
                </a:solidFill>
                <a:latin typeface="Red Hat Text"/>
              </a:rPr>
              <a:t>Output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982980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3B3535"/>
                </a:solidFill>
                <a:latin typeface="Roboto Light"/>
              </a:rPr>
              <a:t>Representative console outputs for the completed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507492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3B3535"/>
                </a:solidFill>
                <a:latin typeface="Red Hat Text"/>
              </a:rPr>
              <a:t>Main menu + Add Student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27631"/>
            <a:ext cx="5020056" cy="2643039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700784"/>
            <a:ext cx="4855464" cy="18653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0">
                <a:solidFill>
                  <a:srgbClr val="282828"/>
                </a:solidFill>
                <a:latin typeface="Consolas"/>
              </a:rPr>
              <a:t>===== STUDENT RECORD MANAGER =====
1. Add Student
2. Display Students
3. Search Student
4. Update Student
5. Delete Student
6. Exit
Enter choice: 1
Student ID: 25B11CS434
Name: Lokesh
Age: 20
Course: CSE
Marks: 82.5
Student added successfully!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280160"/>
            <a:ext cx="470916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3B3535"/>
                </a:solidFill>
                <a:latin typeface="Red Hat Text"/>
              </a:rPr>
              <a:t>Search / Update / 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627632"/>
            <a:ext cx="4709160" cy="2011680"/>
          </a:xfrm>
          <a:prstGeom prst="roundRect">
            <a:avLst/>
          </a:prstGeom>
          <a:solidFill>
            <a:srgbClr val="F5F5F5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9048" y="1700784"/>
            <a:ext cx="4489704" cy="1865376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050" b="0">
                <a:solidFill>
                  <a:srgbClr val="282828"/>
                </a:solidFill>
                <a:latin typeface="Consolas"/>
              </a:rPr>
              <a:t>Enter choice: 3
Enter Student ID: 25B11CS434
Record found:
Name : Lokesh
Marks: 82.5
Enter choice: 4
Record updated successfully!
Enter choice: 5
Record deleted successfully!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44991"/>
            <a:ext cx="10012680" cy="141732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" y="4235622"/>
            <a:ext cx="968349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600" b="1" dirty="0">
                <a:solidFill>
                  <a:srgbClr val="3B3535"/>
                </a:solidFill>
                <a:latin typeface="Red Hat Text"/>
              </a:rPr>
              <a:t>What to demonstrate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886372"/>
            <a:ext cx="9081204" cy="541687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400" b="0" dirty="0">
                <a:solidFill>
                  <a:srgbClr val="3B3535"/>
                </a:solidFill>
                <a:latin typeface="Roboto Light"/>
              </a:rPr>
              <a:t>Run the program → choose a menu option → enter data → show the result → repeat for Search/Update/Delete → </a:t>
            </a:r>
            <a:endParaRPr lang="en-US" sz="14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400" b="0" dirty="0">
                <a:solidFill>
                  <a:srgbClr val="3B3535"/>
                </a:solidFill>
                <a:latin typeface="Roboto Light"/>
              </a:rPr>
              <a:t>show that file handling preserves records.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035463"/>
            <a:ext cx="9738360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ctr"/>
            <a:r>
              <a:rPr sz="1100" b="0" dirty="0">
                <a:solidFill>
                  <a:srgbClr val="3B3535"/>
                </a:solidFill>
                <a:latin typeface="Roboto Light"/>
              </a:rPr>
              <a:t>Note: these are representative outputs for presentation; replace values with your actual program output if different.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C8AE2C-BE34-6FCB-329B-24484D250666}"/>
              </a:ext>
            </a:extLst>
          </p:cNvPr>
          <p:cNvSpPr/>
          <p:nvPr/>
        </p:nvSpPr>
        <p:spPr>
          <a:xfrm>
            <a:off x="10926147" y="6512767"/>
            <a:ext cx="1265853" cy="345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9829800" cy="56692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2700" b="1">
                <a:solidFill>
                  <a:srgbClr val="1F1E1E"/>
                </a:solidFill>
                <a:latin typeface="Red Hat Text"/>
              </a:rPr>
              <a:t>Relevant C++ Concepts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9829800" cy="384048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>
                <a:solidFill>
                  <a:srgbClr val="3B3535"/>
                </a:solidFill>
                <a:latin typeface="Roboto Light"/>
              </a:rPr>
              <a:t>Connect each concept to the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788920" cy="164592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490472"/>
            <a:ext cx="24597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3B3535"/>
                </a:solidFill>
                <a:latin typeface="Red Hat Text"/>
              </a:rPr>
              <a:t>Class &amp;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92807"/>
            <a:ext cx="2412712" cy="71096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Student class encapsulates </a:t>
            </a:r>
            <a:endParaRPr lang="en-US" sz="13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student attributes and member </a:t>
            </a:r>
            <a:endParaRPr lang="en-US" sz="13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1371600"/>
            <a:ext cx="2788920" cy="164592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50791" y="1490472"/>
            <a:ext cx="24597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3B3535"/>
                </a:solidFill>
                <a:latin typeface="Red Hat Text"/>
              </a:rPr>
              <a:t>vector&lt;Student&gt;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0791" y="1892807"/>
            <a:ext cx="2396682" cy="710964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STL vector stores a dynamic </a:t>
            </a:r>
            <a:endParaRPr lang="en-US" sz="13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collection of student records in </a:t>
            </a:r>
            <a:endParaRPr lang="en-US" sz="13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1371600"/>
            <a:ext cx="2788920" cy="164592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51192" y="1490472"/>
            <a:ext cx="24597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3B3535"/>
                </a:solidFill>
                <a:latin typeface="Red Hat Text"/>
              </a:rPr>
              <a:t>Modular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5625" y="2003113"/>
            <a:ext cx="2710870" cy="510909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Separate functions support Add,</a:t>
            </a:r>
            <a:endParaRPr lang="en-US" sz="13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 Display, Search, Update and Delete.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2788920" cy="164592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3547872"/>
            <a:ext cx="24597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3B3535"/>
                </a:solidFill>
                <a:latin typeface="Red Hat Text"/>
              </a:rPr>
              <a:t>File I/O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618" y="3867912"/>
            <a:ext cx="2734916" cy="510909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 dirty="0" err="1">
                <a:solidFill>
                  <a:srgbClr val="3B3535"/>
                </a:solidFill>
                <a:latin typeface="Roboto Light"/>
              </a:rPr>
              <a:t>fstream</a:t>
            </a:r>
            <a:r>
              <a:rPr sz="1300" b="0" dirty="0">
                <a:solidFill>
                  <a:srgbClr val="3B3535"/>
                </a:solidFill>
                <a:latin typeface="Roboto Light"/>
              </a:rPr>
              <a:t> supports persistent storage</a:t>
            </a:r>
            <a:endParaRPr lang="en-US" sz="13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 between application sessions.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429000"/>
            <a:ext cx="2788920" cy="164592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50791" y="3547872"/>
            <a:ext cx="24597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3B3535"/>
                </a:solidFill>
                <a:latin typeface="Red Hat Text"/>
              </a:rPr>
              <a:t>Switch-Case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0791" y="3950208"/>
            <a:ext cx="2395079" cy="510909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Menu selection routes the user </a:t>
            </a:r>
            <a:endParaRPr lang="en-US" sz="13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to the required operation.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3429000"/>
            <a:ext cx="2788920" cy="1645920"/>
          </a:xfrm>
          <a:prstGeom prst="roundRect">
            <a:avLst/>
          </a:prstGeom>
          <a:solidFill>
            <a:srgbClr val="F8F8F8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51192" y="3547872"/>
            <a:ext cx="2459736" cy="320040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3B3535"/>
                </a:solidFill>
                <a:latin typeface="Red Hat Text"/>
              </a:rPr>
              <a:t>Input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3950208"/>
            <a:ext cx="2649956" cy="510909"/>
          </a:xfrm>
          <a:prstGeom prst="rect">
            <a:avLst/>
          </a:prstGeom>
          <a:noFill/>
        </p:spPr>
        <p:txBody>
          <a:bodyPr wrap="none" lIns="54864" tIns="54864" rIns="54864" bIns="54864" anchor="t">
            <a:spAutoFit/>
          </a:bodyPr>
          <a:lstStyle/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Checks duplicate IDs, invalid types </a:t>
            </a:r>
            <a:endParaRPr lang="en-US" sz="1300" b="0" dirty="0">
              <a:solidFill>
                <a:srgbClr val="3B3535"/>
              </a:solidFill>
              <a:latin typeface="Roboto Light"/>
            </a:endParaRPr>
          </a:p>
          <a:p>
            <a:pPr algn="l"/>
            <a:r>
              <a:rPr sz="1300" b="0" dirty="0">
                <a:solidFill>
                  <a:srgbClr val="3B3535"/>
                </a:solidFill>
                <a:latin typeface="Roboto Light"/>
              </a:rPr>
              <a:t>and boundary conditions.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5274C1-DFD2-E630-45FC-2E9295CF1ED8}"/>
              </a:ext>
            </a:extLst>
          </p:cNvPr>
          <p:cNvSpPr/>
          <p:nvPr/>
        </p:nvSpPr>
        <p:spPr>
          <a:xfrm>
            <a:off x="10926147" y="6512767"/>
            <a:ext cx="1265853" cy="345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-You-Slides Slides Thank You Slide Template S09202227 powerpoint-template keynote-template google-slides-template infographic-template">
            <a:extLst>
              <a:ext uri="{FF2B5EF4-FFF2-40B4-BE49-F238E27FC236}">
                <a16:creationId xmlns:a16="http://schemas.microsoft.com/office/drawing/2014/main" id="{6E60BFB8-45A7-8077-8FED-5A3784F97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"/>
            <a:ext cx="12192000" cy="68548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CC3248-4E3E-01BF-5E5C-E6F579617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34" y="334304"/>
            <a:ext cx="1857634" cy="6096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1F2000-9292-42D9-622F-955489BB8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601" y="4735353"/>
            <a:ext cx="2724530" cy="18100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025CB1-7846-2880-3850-4F72EBE6B068}"/>
              </a:ext>
            </a:extLst>
          </p:cNvPr>
          <p:cNvSpPr txBox="1"/>
          <p:nvPr/>
        </p:nvSpPr>
        <p:spPr>
          <a:xfrm>
            <a:off x="9002488" y="3096852"/>
            <a:ext cx="22395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Presented by : </a:t>
            </a:r>
          </a:p>
          <a:p>
            <a:pPr algn="ctr"/>
            <a:r>
              <a:rPr lang="en-US" sz="2400"/>
              <a:t>Karishma </a:t>
            </a:r>
            <a:br>
              <a:rPr lang="en-US" sz="2400"/>
            </a:br>
            <a:r>
              <a:rPr lang="en-US" sz="2400"/>
              <a:t>Mounika</a:t>
            </a:r>
          </a:p>
          <a:p>
            <a:pPr algn="ctr"/>
            <a:r>
              <a:rPr lang="en-US" sz="2400"/>
              <a:t>Raghuveer</a:t>
            </a:r>
          </a:p>
          <a:p>
            <a:pPr algn="ctr"/>
            <a:r>
              <a:rPr lang="en-US" sz="2400"/>
              <a:t>Lokesh</a:t>
            </a:r>
          </a:p>
          <a:p>
            <a:endParaRPr lang="en-US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00BC8D-94B9-C1A7-BCAA-853368D10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065" y="2425959"/>
            <a:ext cx="3713584" cy="22206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5C4BA0-A88D-FFC4-0389-53A6EE754A56}"/>
              </a:ext>
            </a:extLst>
          </p:cNvPr>
          <p:cNvSpPr txBox="1"/>
          <p:nvPr/>
        </p:nvSpPr>
        <p:spPr>
          <a:xfrm>
            <a:off x="842869" y="2215106"/>
            <a:ext cx="60975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/>
              <a:t>THANK</a:t>
            </a:r>
          </a:p>
          <a:p>
            <a:pPr algn="ctr"/>
            <a:r>
              <a:rPr lang="en-US" sz="7200"/>
              <a:t>YOU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B5F486-FFFF-DE52-AFFE-4C2CC43E95E5}"/>
              </a:ext>
            </a:extLst>
          </p:cNvPr>
          <p:cNvSpPr txBox="1"/>
          <p:nvPr/>
        </p:nvSpPr>
        <p:spPr>
          <a:xfrm>
            <a:off x="8214823" y="1939969"/>
            <a:ext cx="38302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/>
              <a:t>Student Record Manager</a:t>
            </a:r>
            <a:br>
              <a:rPr lang="en-US" sz="2400"/>
            </a:br>
            <a:r>
              <a:rPr lang="en-US" sz="2400" i="1"/>
              <a:t>A C++ Console Application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33006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1757</Words>
  <Application>Microsoft Office PowerPoint</Application>
  <PresentationFormat>Widescreen</PresentationFormat>
  <Paragraphs>298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Roboto Bold</vt:lpstr>
      <vt:lpstr>Consolas</vt:lpstr>
      <vt:lpstr>Red Hat Text</vt:lpstr>
      <vt:lpstr>Roboto Light</vt:lpstr>
      <vt:lpstr>Arial</vt:lpstr>
      <vt:lpstr>Red Hat Text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Kesana Raghuveer</dc:creator>
  <cp:lastModifiedBy>Lokesh K</cp:lastModifiedBy>
  <cp:revision>4</cp:revision>
  <dcterms:created xsi:type="dcterms:W3CDTF">2026-08-25T10:02:10Z</dcterms:created>
  <dcterms:modified xsi:type="dcterms:W3CDTF">2026-10-07T09:09:04Z</dcterms:modified>
</cp:coreProperties>
</file>